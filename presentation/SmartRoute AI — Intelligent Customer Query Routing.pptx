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</ns0:sldIdLst>
  <ns0:sldSz cx="12192000" cy="6858000" type="screen4x3"/>
  <ns0:notesSz cx="6858000" cy="9144000"/>
  <ns0:embeddedFontLst>
    <ns0:embeddedFont>
      <ns0:font typeface="Space Grotesk"/>
      <ns0:bold ns1:id="rIdFont19"/>
    </ns0:embeddedFont>
    <ns0:embeddedFont>
      <ns0:font typeface="Plus Jakarta Sans"/>
      <ns0:bold ns1:id="rIdFont20"/>
      <ns0:regular ns1:id="rIdFont21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Font19" Type="http://schemas.openxmlformats.org/officeDocument/2006/relationships/font" Target="fonts/e11f6334-dbe5-4a8d-aade-ecf277485034.fntdata" /><ns0:Relationship Id="rIdFont20" Type="http://schemas.openxmlformats.org/officeDocument/2006/relationships/font" Target="fonts/547454fa-6efe-4f11-8471-673a402ee4d2.fntdata" /><ns0:Relationship Id="rIdFont21" Type="http://schemas.openxmlformats.org/officeDocument/2006/relationships/font" Target="fonts/b99d7590-bfd8-4917-a594-41c05b3c346b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543550"/>
            <a:ext cx="10820400" cy="704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543550"/>
            <a:ext cx="108204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09600"/>
            <a:ext cx="47148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0F2FE"/>
                </a:solidFill>
                <a:latin typeface="Space Grotesk"/>
              </a:rPr>
              <a:t>CAPSTONE PROBLEM 35 •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27957"/>
            <a:ext cx="9701212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FFFFF"/>
                </a:solidFill>
                <a:latin typeface="Space Grotesk"/>
              </a:rPr>
              <a:t>SmartRoute AI: Intelligent Customer Query Routing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519487"/>
            <a:ext cx="7905750" cy="586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0" sz="1650" i="0" u="none">
                <a:solidFill>
                  <a:srgbClr val="94A3B8"/>
                </a:solidFill>
                <a:latin typeface="Plus Jakarta Sans"/>
              </a:rPr>
              <a:t>Multi-class NLP intent classification pipeline paired with confidence-aware dispatch policy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1250" y="614362"/>
            <a:ext cx="18811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Plus Jakarta Sans"/>
              </a:rPr>
              <a:t>BANKING77 Benchmark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819775"/>
            <a:ext cx="294084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029325"/>
            <a:ext cx="294084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Plus Jakarta Sans"/>
              </a:rPr>
              <a:t>TF-IDF + Logistic Regression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1375" y="5819775"/>
            <a:ext cx="18811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INTENT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1375" y="6029325"/>
            <a:ext cx="18811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Plus Jakarta Sans"/>
              </a:rPr>
              <a:t>77 Service Classes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29225" y="5819775"/>
            <a:ext cx="163115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TEST 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29225" y="6029325"/>
            <a:ext cx="163115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0F2FE"/>
                </a:solidFill>
                <a:latin typeface="Plus Jakarta Sans"/>
              </a:rPr>
              <a:t>87.24% Verified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2818507"/>
            <a:ext cx="3454449" cy="2184796"/>
          </a:xfrm>
          <a:prstGeom prst="roundRect">
            <a:avLst>
              <a:gd name="adj" fmla="val 610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849" y="2818507"/>
            <a:ext cx="3454449" cy="2184796"/>
          </a:xfrm>
          <a:prstGeom prst="roundRect">
            <a:avLst>
              <a:gd name="adj" fmla="val 610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51899" y="2818507"/>
            <a:ext cx="3454449" cy="2184796"/>
          </a:xfrm>
          <a:prstGeom prst="roundRect">
            <a:avLst>
              <a:gd name="adj" fmla="val 610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25" y="3170932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074" y="3170932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8124" y="3170932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5850" y="3294757"/>
            <a:ext cx="209550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8899" y="3294757"/>
            <a:ext cx="209550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1949" y="3294757"/>
            <a:ext cx="209550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OPERATIONAL BOTTLENECK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781050"/>
            <a:ext cx="115062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Space Grotesk"/>
              </a:rPr>
              <a:t>The Query Triage Challenge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2025" y="3818632"/>
            <a:ext cx="380887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Query Volume Surge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2025" y="4171057"/>
            <a:ext cx="2997249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High intake overwhelming support teams.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074" y="3818632"/>
            <a:ext cx="380887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Manual Routing Delay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074" y="4171057"/>
            <a:ext cx="2997249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Human triage creates response latency.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8124" y="3818632"/>
            <a:ext cx="380887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Target Dispatch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8124" y="4171057"/>
            <a:ext cx="2997249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Accurate routing to specialized queues.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2692747"/>
            <a:ext cx="6056114" cy="2474416"/>
          </a:xfrm>
          <a:prstGeom prst="roundRect">
            <a:avLst>
              <a:gd name="adj" fmla="val 615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046714" y="2372617"/>
            <a:ext cx="4459485" cy="923925"/>
          </a:xfrm>
          <a:prstGeom prst="roundRect">
            <a:avLst>
              <a:gd name="adj" fmla="val 824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046714" y="3467992"/>
            <a:ext cx="4459485" cy="923925"/>
          </a:xfrm>
          <a:prstGeom prst="roundRect">
            <a:avLst>
              <a:gd name="adj" fmla="val 824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046714" y="4563367"/>
            <a:ext cx="4459485" cy="923925"/>
          </a:xfrm>
          <a:prstGeom prst="roundRect">
            <a:avLst>
              <a:gd name="adj" fmla="val 824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46714" y="2372617"/>
            <a:ext cx="38100" cy="9239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046714" y="3467992"/>
            <a:ext cx="38100" cy="9239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046714" y="4563367"/>
            <a:ext cx="38100" cy="9239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PROPOSED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781050"/>
            <a:ext cx="115062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Space Grotesk"/>
              </a:rPr>
              <a:t>SmartRoute AI Solution Blueprint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8225" y="3045172"/>
            <a:ext cx="668908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CORE OBJECTIVE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8225" y="3416647"/>
            <a:ext cx="5718839" cy="6932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b="1" sz="2100" i="0" u="none">
                <a:solidFill>
                  <a:srgbClr val="0284C7"/>
                </a:solidFill>
                <a:latin typeface="Plus Jakarta Sans"/>
              </a:rPr>
              <a:t>Automated classification into predefined intents with confidence triage.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8225" y="4300388"/>
            <a:ext cx="5446514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Direct API-driven query ingestion delivering structured intent dispatching in milliseconds.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4364" y="2582167"/>
            <a:ext cx="489763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77 Domain Intents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4364" y="2867917"/>
            <a:ext cx="489763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Granular retail banking classification.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4364" y="3677542"/>
            <a:ext cx="489763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Confidence Gate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94364" y="3963292"/>
            <a:ext cx="489763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Risk-controlled human escalation.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94364" y="4772917"/>
            <a:ext cx="489763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Live Web Telemetry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94364" y="5058667"/>
            <a:ext cx="489763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Real-time queue tracking analytics.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2954535"/>
            <a:ext cx="10820400" cy="1971675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1459110"/>
            <a:ext cx="3479750" cy="1228725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56050" y="1459110"/>
            <a:ext cx="3479750" cy="1228725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26300" y="1459110"/>
            <a:ext cx="3479750" cy="1228725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95325" y="2964060"/>
          <a:ext cx="10801349" cy="195262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933848"/>
                <a:gridCol w="3933676"/>
                <a:gridCol w="3933825"/>
              </a:tblGrid>
              <a:tr h="488156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Corpus Attribute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Metric Value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Evaluation Status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Data Domain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Retail Banking Support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Standard Benchmark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Missing Values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0 Instances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Clean Record Hygiene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88157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Split Integrity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0 Duplicate Rows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Verified Quality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DATA FOUNDATION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81050"/>
            <a:ext cx="115062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Space Grotesk"/>
              </a:rPr>
              <a:t>BANKING77 Benchmark Corpus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487" y="1697235"/>
            <a:ext cx="3754375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b="1" sz="3600" i="0" u="none">
                <a:solidFill>
                  <a:srgbClr val="0284C7"/>
                </a:solidFill>
                <a:latin typeface="Space Grotesk"/>
              </a:rPr>
              <a:t>10,003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487" y="2230635"/>
            <a:ext cx="37543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Plus Jakarta Sans"/>
              </a:rPr>
              <a:t>Training Examples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18737" y="1697235"/>
            <a:ext cx="3754375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3,080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18737" y="2230635"/>
            <a:ext cx="37543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Plus Jakarta Sans"/>
              </a:rPr>
              <a:t>Official Test Examples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88988" y="1697235"/>
            <a:ext cx="3754375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b="1" sz="3600" i="0" u="none">
                <a:solidFill>
                  <a:srgbClr val="0284C7"/>
                </a:solidFill>
                <a:latin typeface="Space Grotesk"/>
              </a:rPr>
              <a:t>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8988" y="2230635"/>
            <a:ext cx="37543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Plus Jakarta Sans"/>
              </a:rPr>
              <a:t>Fine-Grained Intents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2572642"/>
            <a:ext cx="5295900" cy="2676525"/>
          </a:xfrm>
          <a:prstGeom prst="roundRect">
            <a:avLst>
              <a:gd name="adj" fmla="val 498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2572642"/>
            <a:ext cx="5295900" cy="2676525"/>
          </a:xfrm>
          <a:prstGeom prst="roundRect">
            <a:avLst>
              <a:gd name="adj" fmla="val 498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CORPUS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81050"/>
            <a:ext cx="115062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Space Grotesk"/>
              </a:rPr>
              <a:t>Exploratory Data &amp; Leakage 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125" y="2886967"/>
            <a:ext cx="612576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Query Dimension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24625" y="2886967"/>
            <a:ext cx="56673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Split Hygiene Verification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125" y="3353692"/>
            <a:ext cx="5834062" cy="400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b="1" sz="3150" i="0" u="none">
                <a:solidFill>
                  <a:srgbClr val="0284C7"/>
                </a:solidFill>
                <a:latin typeface="Space Grotesk"/>
              </a:rPr>
              <a:t>11.95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0125" y="3810892"/>
            <a:ext cx="583406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Mean words per training query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125" y="4258567"/>
            <a:ext cx="5834062" cy="400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b="1" sz="3150" i="0" u="none">
                <a:solidFill>
                  <a:srgbClr val="0F172A"/>
                </a:solidFill>
                <a:latin typeface="Space Grotesk"/>
              </a:rPr>
              <a:t>59.48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125" y="4715767"/>
            <a:ext cx="583406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Mean characters per query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4625" y="3353692"/>
            <a:ext cx="5667375" cy="400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b="1" sz="3150" i="0" u="none">
                <a:solidFill>
                  <a:srgbClr val="16A34A"/>
                </a:solidFill>
                <a:latin typeface="Space Grotesk"/>
              </a:rPr>
              <a:t>0 Overlap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4625" y="3810892"/>
            <a:ext cx="56673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Zero train/test text leakage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4625" y="4258567"/>
            <a:ext cx="5667375" cy="400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b="1" sz="3150" i="0" u="none">
                <a:solidFill>
                  <a:srgbClr val="0F172A"/>
                </a:solidFill>
                <a:latin typeface="Space Grotesk"/>
              </a:rPr>
              <a:t>Balanced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4625" y="4715767"/>
            <a:ext cx="56673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Uniform class distribution pattern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3201292"/>
            <a:ext cx="2042219" cy="1457325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880419" y="3201292"/>
            <a:ext cx="2042219" cy="1457325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75039" y="3201292"/>
            <a:ext cx="2042219" cy="1457325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69658" y="3201292"/>
            <a:ext cx="2042219" cy="1457325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64278" y="3201292"/>
            <a:ext cx="2042219" cy="1457325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PIPELINE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81050"/>
            <a:ext cx="115062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Space Grotesk"/>
              </a:rPr>
              <a:t>End-to-End Processing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741" y="3439417"/>
            <a:ext cx="210033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284C7"/>
                </a:solidFill>
                <a:latin typeface="Plus Jakarta Sans"/>
              </a:rPr>
              <a:t>STAGE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4232" y="3687067"/>
            <a:ext cx="220535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Raw Query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741" y="3982342"/>
            <a:ext cx="210033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4748B"/>
                </a:solidFill>
                <a:latin typeface="Plus Jakarta Sans"/>
              </a:rPr>
              <a:t>Text string ingestion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51360" y="3439417"/>
            <a:ext cx="210033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284C7"/>
                </a:solidFill>
                <a:latin typeface="Plus Jakarta Sans"/>
              </a:rPr>
              <a:t>STAGE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98852" y="3687067"/>
            <a:ext cx="220535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TF-IDF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51360" y="3982342"/>
            <a:ext cx="2100336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4748B"/>
                </a:solidFill>
                <a:latin typeface="Plus Jakarta Sans"/>
              </a:rPr>
              <a:t>N-gram feature weights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5980" y="3439417"/>
            <a:ext cx="210033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284C7"/>
                </a:solidFill>
                <a:latin typeface="Plus Jakarta Sans"/>
              </a:rPr>
              <a:t>STAGE 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93471" y="3687067"/>
            <a:ext cx="220535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Classifier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5980" y="3982342"/>
            <a:ext cx="210033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4748B"/>
                </a:solidFill>
                <a:latin typeface="Plus Jakarta Sans"/>
              </a:rPr>
              <a:t>Logistic Regression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40599" y="3439417"/>
            <a:ext cx="210033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284C7"/>
                </a:solidFill>
                <a:latin typeface="Plus Jakarta Sans"/>
              </a:rPr>
              <a:t>STAGE 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88091" y="3687067"/>
            <a:ext cx="220535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Intent Policy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0599" y="3982342"/>
            <a:ext cx="2100336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4748B"/>
                </a:solidFill>
                <a:latin typeface="Plus Jakarta Sans"/>
              </a:rPr>
              <a:t>Confidence triage gate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35219" y="3439417"/>
            <a:ext cx="210033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284C7"/>
                </a:solidFill>
                <a:latin typeface="Plus Jakarta Sans"/>
              </a:rPr>
              <a:t>STAGE 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82711" y="3687067"/>
            <a:ext cx="220535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Queue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35219" y="3982342"/>
            <a:ext cx="2100336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4748B"/>
                </a:solidFill>
                <a:latin typeface="Plus Jakarta Sans"/>
              </a:rPr>
              <a:t>Service queue dispatch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2986980"/>
            <a:ext cx="2533650" cy="1885950"/>
          </a:xfrm>
          <a:prstGeom prst="roundRect">
            <a:avLst>
              <a:gd name="adj" fmla="val 7070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48050" y="2986980"/>
            <a:ext cx="2533650" cy="1885950"/>
          </a:xfrm>
          <a:prstGeom prst="roundRect">
            <a:avLst>
              <a:gd name="adj" fmla="val 707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2986980"/>
            <a:ext cx="2533650" cy="1885950"/>
          </a:xfrm>
          <a:prstGeom prst="roundRect">
            <a:avLst>
              <a:gd name="adj" fmla="val 707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72550" y="2986980"/>
            <a:ext cx="2533650" cy="1885950"/>
          </a:xfrm>
          <a:prstGeom prst="roundRect">
            <a:avLst>
              <a:gd name="adj" fmla="val 707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QUANTITATIVE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81050"/>
            <a:ext cx="115062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Space Grotesk"/>
              </a:rPr>
              <a:t>Verified Benchmark 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125" y="3339405"/>
            <a:ext cx="2667000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b="1" sz="4200" i="0" u="none">
                <a:solidFill>
                  <a:srgbClr val="0284C7"/>
                </a:solidFill>
                <a:latin typeface="Space Grotesk"/>
              </a:rPr>
              <a:t>87.24%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2450" y="4006155"/>
            <a:ext cx="28003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Plus Jakarta Sans"/>
              </a:rPr>
              <a:t>Test 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125" y="4301430"/>
            <a:ext cx="26670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Plus Jakarta Sans"/>
              </a:rPr>
              <a:t>3,080 test samples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1375" y="3339405"/>
            <a:ext cx="2667000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b="1" sz="4200" i="0" u="none">
                <a:solidFill>
                  <a:srgbClr val="0F172A"/>
                </a:solidFill>
                <a:latin typeface="Space Grotesk"/>
              </a:rPr>
              <a:t>88.02%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4700" y="4006155"/>
            <a:ext cx="28003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Plus Jakarta Sans"/>
              </a:rPr>
              <a:t>Weighted Precision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1375" y="4301430"/>
            <a:ext cx="26670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Plus Jakarta Sans"/>
              </a:rPr>
              <a:t>High positive accuracy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43625" y="3339405"/>
            <a:ext cx="2667000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b="1" sz="4200" i="0" u="none">
                <a:solidFill>
                  <a:srgbClr val="0F172A"/>
                </a:solidFill>
                <a:latin typeface="Space Grotesk"/>
              </a:rPr>
              <a:t>87.24%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76950" y="4006155"/>
            <a:ext cx="28003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Plus Jakarta Sans"/>
              </a:rPr>
              <a:t>Weighted Recall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43625" y="4301430"/>
            <a:ext cx="26670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Plus Jakarta Sans"/>
              </a:rPr>
              <a:t>Balanced sensitivity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05875" y="3339405"/>
            <a:ext cx="2667000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b="1" sz="4200" i="0" u="none">
                <a:solidFill>
                  <a:srgbClr val="0F172A"/>
                </a:solidFill>
                <a:latin typeface="Space Grotesk"/>
              </a:rPr>
              <a:t>87.26%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39200" y="4006155"/>
            <a:ext cx="28003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Plus Jakarta Sans"/>
              </a:rPr>
              <a:t>Weighted F1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05875" y="4301430"/>
            <a:ext cx="26670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Plus Jakarta Sans"/>
              </a:rPr>
              <a:t>Harmonic robustness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3019425"/>
            <a:ext cx="3454449" cy="1821060"/>
          </a:xfrm>
          <a:prstGeom prst="roundRect">
            <a:avLst>
              <a:gd name="adj" fmla="val 7322"/>
            </a:avLst>
          </a:prstGeom>
          <a:solidFill>
            <a:srgbClr val="FFFFFF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849" y="3019425"/>
            <a:ext cx="3454449" cy="1821060"/>
          </a:xfrm>
          <a:prstGeom prst="roundRect">
            <a:avLst>
              <a:gd name="adj" fmla="val 7322"/>
            </a:avLst>
          </a:prstGeom>
          <a:solidFill>
            <a:srgbClr val="FFFFFF"/>
          </a:solidFill>
          <a:ln w="9525">
            <a:solidFill>
              <a:srgbClr val="FED7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51899" y="3019425"/>
            <a:ext cx="3454449" cy="1821060"/>
          </a:xfrm>
          <a:prstGeom prst="roundRect">
            <a:avLst>
              <a:gd name="adj" fmla="val 7322"/>
            </a:avLst>
          </a:prstGeom>
          <a:solidFill>
            <a:srgbClr val="FFFFFF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DECISION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81050"/>
            <a:ext cx="115062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Space Grotesk"/>
              </a:rPr>
              <a:t>Confidence-Aware Routing Policy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371850"/>
            <a:ext cx="3722749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6A34A"/>
                </a:solidFill>
                <a:latin typeface="Space Grotesk"/>
              </a:rPr>
              <a:t>≥ 80%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867150"/>
            <a:ext cx="3908886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Auto Route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4248150"/>
            <a:ext cx="3722749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Automated queue dispatch.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6974" y="3371850"/>
            <a:ext cx="3722749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EA580C"/>
                </a:solidFill>
                <a:latin typeface="Space Grotesk"/>
              </a:rPr>
              <a:t>60–79%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6974" y="3867150"/>
            <a:ext cx="3908886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Route +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6974" y="4248150"/>
            <a:ext cx="3722749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Dispatched with audit flag.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0024" y="3371850"/>
            <a:ext cx="3722749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DC2626"/>
                </a:solidFill>
                <a:latin typeface="Space Grotesk"/>
              </a:rPr>
              <a:t>&lt; 60%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0024" y="3867150"/>
            <a:ext cx="39019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Human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0024" y="4248150"/>
            <a:ext cx="3722749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Manual triage escalation.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2215455"/>
            <a:ext cx="10820400" cy="5715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2920305"/>
            <a:ext cx="10820400" cy="5715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3625155"/>
            <a:ext cx="10820400" cy="5715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4330005"/>
            <a:ext cx="10820400" cy="5715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5034855"/>
            <a:ext cx="10820400" cy="5715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EXECUTION CYCLE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81050"/>
            <a:ext cx="115062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Space Grotesk"/>
              </a:rPr>
              <a:t>Runtime Transaction Stages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2377380"/>
            <a:ext cx="59055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84C7"/>
                </a:solidFill>
                <a:latin typeface="Space Grotesk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9225" y="2391667"/>
            <a:ext cx="30003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Customer 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95725" y="2391667"/>
            <a:ext cx="365521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User submits natural language query.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3082230"/>
            <a:ext cx="59055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84C7"/>
                </a:solidFill>
                <a:latin typeface="Space Grotesk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9225" y="3096517"/>
            <a:ext cx="30003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Flask Ingestion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95725" y="3096517"/>
            <a:ext cx="313134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API endpoint receives payload.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925" y="3787080"/>
            <a:ext cx="59055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84C7"/>
                </a:solidFill>
                <a:latin typeface="Space Grotesk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9225" y="3801367"/>
            <a:ext cx="30003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Model Inference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95725" y="3801367"/>
            <a:ext cx="388143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Pipeline computes intent probabilities.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925" y="4491930"/>
            <a:ext cx="59055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84C7"/>
                </a:solidFill>
                <a:latin typeface="Space Grotesk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9225" y="4506217"/>
            <a:ext cx="30003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Policy Evaluation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95725" y="4506217"/>
            <a:ext cx="353615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Confidence triggers routing action.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925" y="5196780"/>
            <a:ext cx="59055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84C7"/>
                </a:solidFill>
                <a:latin typeface="Space Grotesk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9225" y="5211067"/>
            <a:ext cx="30003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Telemetry Update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95725" y="5211067"/>
            <a:ext cx="292893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Frontend logs analytics entry.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2477392"/>
            <a:ext cx="5276850" cy="2867025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29350" y="2477392"/>
            <a:ext cx="5276850" cy="2867025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0125" y="3620392"/>
            <a:ext cx="4648200" cy="619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0125" y="4410967"/>
            <a:ext cx="4648200" cy="619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43675" y="3620392"/>
            <a:ext cx="4648200" cy="619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43675" y="4410967"/>
            <a:ext cx="4648200" cy="619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0125" y="3620392"/>
            <a:ext cx="46482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00125" y="4410967"/>
            <a:ext cx="46482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43675" y="3620392"/>
            <a:ext cx="46482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43675" y="4410967"/>
            <a:ext cx="46482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FULL-STACK IMPLEMENTATION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781050"/>
            <a:ext cx="115062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Space Grotesk"/>
              </a:rPr>
              <a:t>Application Architecture &amp; 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125" y="2791717"/>
            <a:ext cx="6100762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Frontend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0125" y="3229867"/>
            <a:ext cx="5810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HTML5 + CSS3 + Vanilla JavaScript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3675" y="2791717"/>
            <a:ext cx="564832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Backend &amp; Telemetry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3675" y="3229867"/>
            <a:ext cx="56483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Flask microservice architecture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0125" y="3763267"/>
            <a:ext cx="5810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Plus Jakarta Sans"/>
              </a:rPr>
              <a:t>Interactive Query Console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0125" y="4020442"/>
            <a:ext cx="5810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Top intents rank 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0125" y="4553842"/>
            <a:ext cx="5810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Plus Jakarta Sans"/>
              </a:rPr>
              <a:t>Service Queue Tracker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0125" y="4811017"/>
            <a:ext cx="5810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Dynamic distribution charts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3675" y="3763267"/>
            <a:ext cx="56483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Plus Jakarta Sans"/>
              </a:rPr>
              <a:t>Model Artifact Hosting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43675" y="4020442"/>
            <a:ext cx="56483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Serialized inference pipeline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43675" y="4553842"/>
            <a:ext cx="56483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Plus Jakarta Sans"/>
              </a:rPr>
              <a:t>Audit Trail Logging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43675" y="4811017"/>
            <a:ext cx="56483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Historical routing records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2691705"/>
            <a:ext cx="5276850" cy="2438400"/>
          </a:xfrm>
          <a:prstGeom prst="roundRect">
            <a:avLst>
              <a:gd name="adj" fmla="val 546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29350" y="2691705"/>
            <a:ext cx="5276850" cy="2438400"/>
          </a:xfrm>
          <a:prstGeom prst="roundRect">
            <a:avLst>
              <a:gd name="adj" fmla="val 546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0125" y="3425130"/>
            <a:ext cx="4648200" cy="619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0125" y="4196655"/>
            <a:ext cx="4648200" cy="619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43675" y="3425130"/>
            <a:ext cx="4648200" cy="619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43675" y="4196655"/>
            <a:ext cx="4648200" cy="619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0125" y="3425130"/>
            <a:ext cx="4648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00125" y="4196655"/>
            <a:ext cx="4648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43675" y="3425130"/>
            <a:ext cx="4648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43675" y="4196655"/>
            <a:ext cx="4648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ENGINEERING ROADMAP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781050"/>
            <a:ext cx="115062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Space Grotesk"/>
              </a:rPr>
              <a:t>Current Boundaries &amp; Expansion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125" y="3006030"/>
            <a:ext cx="6100762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DC2626"/>
                </a:solidFill>
                <a:latin typeface="Plus Jakarta Sans"/>
              </a:rPr>
              <a:t>Current Limitations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3675" y="3006030"/>
            <a:ext cx="564832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6A34A"/>
                </a:solidFill>
                <a:latin typeface="Plus Jakarta Sans"/>
              </a:rPr>
              <a:t>Future Roadmap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0125" y="3568005"/>
            <a:ext cx="610076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Semantic Overlap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0125" y="3825180"/>
            <a:ext cx="5810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Subtle intent boundaries.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0125" y="4339530"/>
            <a:ext cx="610076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Uncalibrated Probabilities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0125" y="4596705"/>
            <a:ext cx="5810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Raw score variances.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3675" y="3568005"/>
            <a:ext cx="56483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Probability Calibration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3675" y="3825180"/>
            <a:ext cx="56483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Platt scaling integration.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3675" y="4339530"/>
            <a:ext cx="56483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Transformer Comparison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43675" y="4596705"/>
            <a:ext cx="56483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DistilBERT / RoBERTa benchmarks.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48125" y="4268092"/>
            <a:ext cx="4095750" cy="933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48125" y="4268092"/>
            <a:ext cx="409575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00625" y="1656457"/>
            <a:ext cx="21907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0F2FE"/>
                </a:solidFill>
                <a:latin typeface="Space Grotesk"/>
              </a:rPr>
              <a:t>CAPSTONE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5281" y="1989832"/>
            <a:ext cx="11501437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b="1" sz="3600" i="0" u="none">
                <a:solidFill>
                  <a:srgbClr val="FFFFFF"/>
                </a:solidFill>
                <a:latin typeface="Space Grotesk"/>
              </a:rPr>
              <a:t>SmartRoute AI: Efficient, Transparent NLP Dispatch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1625" y="3277492"/>
            <a:ext cx="90487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End-to-end, low-cost NLP prototype achieving 87.24% test accuracy with risk-aware operational routing.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04059" y="4582417"/>
            <a:ext cx="1440656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400" i="0" u="none">
                <a:solidFill>
                  <a:srgbClr val="00F2FE"/>
                </a:solidFill>
                <a:latin typeface="Plus Jakarta Sans"/>
              </a:rPr>
              <a:t>87.24%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04059" y="5001517"/>
            <a:ext cx="144065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94A3B8"/>
                </a:solidFill>
                <a:latin typeface="Plus Jakarta Sans"/>
              </a:rPr>
              <a:t>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14975" y="4582417"/>
            <a:ext cx="85725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400" i="0" u="none">
                <a:solidFill>
                  <a:srgbClr val="FFFFFF"/>
                </a:solidFill>
                <a:latin typeface="Plus Jakarta Sans"/>
              </a:rPr>
              <a:t>77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14975" y="5001517"/>
            <a:ext cx="857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94A3B8"/>
                </a:solidFill>
                <a:latin typeface="Plus Jakarta Sans"/>
              </a:rPr>
              <a:t>Classes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4384" y="4582417"/>
            <a:ext cx="1821656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400" i="0" u="none">
                <a:solidFill>
                  <a:srgbClr val="00F2FE"/>
                </a:solidFill>
                <a:latin typeface="Plus Jakarta Sans"/>
              </a:rPr>
              <a:t>3 Tiers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4384" y="5001517"/>
            <a:ext cx="182165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94A3B8"/>
                </a:solidFill>
                <a:latin typeface="Plus Jakarta Sans"/>
              </a:rPr>
              <a:t>Confidence Routing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